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640080"/>
            <a:ext cx="9448495" cy="5577840"/>
          </a:xfrm>
          <a:prstGeom prst="rect">
            <a:avLst/>
          </a:prstGeom>
          <a:solidFill>
            <a:srgbClr val="15223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45920" y="1274564"/>
            <a:ext cx="8899855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  <a:latin typeface="Arial"/>
              </a:defRPr>
            </a:pPr>
            <a:r>
              <a:rPr sz="2800" dirty="0"/>
              <a:t>U21CS504 - WEB TECHNOLOGIES LABORATORY</a:t>
            </a:r>
          </a:p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  <a:latin typeface="Arial"/>
              </a:defRPr>
            </a:pPr>
            <a:endParaRPr lang="en-US" sz="1200" dirty="0"/>
          </a:p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  <a:latin typeface="Arial"/>
              </a:defRPr>
            </a:pPr>
            <a:r>
              <a:rPr sz="4000" dirty="0" err="1"/>
              <a:t>PlantPulse</a:t>
            </a:r>
            <a:endParaRPr sz="4000" dirty="0"/>
          </a:p>
          <a:p>
            <a:pPr algn="ctr">
              <a:spcBef>
                <a:spcPts val="600"/>
              </a:spcBef>
              <a:defRPr sz="1800" b="1">
                <a:solidFill>
                  <a:srgbClr val="E2E8F0"/>
                </a:solidFill>
                <a:latin typeface="Arial"/>
              </a:defRPr>
            </a:pPr>
            <a:r>
              <a:rPr dirty="0"/>
              <a:t>Smart Industrial Asset &amp; Predictive Maintenance Platform</a:t>
            </a:r>
          </a:p>
          <a:p>
            <a:pPr algn="ctr">
              <a:spcBef>
                <a:spcPts val="400"/>
              </a:spcBef>
              <a:defRPr sz="1400" b="1" i="1">
                <a:solidFill>
                  <a:srgbClr val="F59E0B"/>
                </a:solidFill>
                <a:latin typeface="Arial"/>
              </a:defRPr>
            </a:pPr>
            <a:r>
              <a:rPr dirty="0"/>
              <a:t>(Monitor. Maintain. Predict.)</a:t>
            </a:r>
          </a:p>
          <a:p>
            <a:pPr algn="ctr">
              <a:spcBef>
                <a:spcPts val="1400"/>
              </a:spcBef>
              <a:defRPr sz="1000">
                <a:solidFill>
                  <a:srgbClr val="2A3C5A"/>
                </a:solidFill>
                <a:latin typeface="Arial"/>
              </a:defRPr>
            </a:pPr>
            <a:r>
              <a:rPr dirty="0"/>
              <a:t>__________________________________________________________</a:t>
            </a:r>
            <a:endParaRPr lang="en-US" dirty="0"/>
          </a:p>
          <a:p>
            <a:pPr algn="ctr">
              <a:spcBef>
                <a:spcPts val="16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Tharun Pranav T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38BDF8"/>
                </a:solidFill>
                <a:latin typeface="Arial"/>
              </a:defRPr>
            </a:pPr>
            <a:r>
              <a:rPr dirty="0"/>
              <a:t>24CS228</a:t>
            </a:r>
            <a:endParaRPr lang="en-US" dirty="0"/>
          </a:p>
          <a:p>
            <a:pPr algn="ctr">
              <a:spcBef>
                <a:spcPts val="400"/>
              </a:spcBef>
              <a:defRPr sz="1600" b="1">
                <a:solidFill>
                  <a:srgbClr val="38BDF8"/>
                </a:solidFill>
                <a:latin typeface="Arial"/>
              </a:defRPr>
            </a:pPr>
            <a:endParaRPr dirty="0"/>
          </a:p>
          <a:p>
            <a:pPr algn="ctr">
              <a:spcBef>
                <a:spcPts val="600"/>
              </a:spcBef>
              <a:defRPr sz="1400">
                <a:solidFill>
                  <a:srgbClr val="E2E8F0"/>
                </a:solidFill>
                <a:latin typeface="Arial"/>
              </a:defRPr>
            </a:pPr>
            <a:r>
              <a:rPr dirty="0"/>
              <a:t>Department of Computer Science and Engineering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rPr dirty="0"/>
              <a:t>KPR Institute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92993"/>
            <a:ext cx="10362895" cy="47705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rPr dirty="0"/>
              <a:t>Executive Summary &amp; Industrial Background</a:t>
            </a:r>
          </a:p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rPr dirty="0"/>
              <a:t>Addressing Unplanned Downtime Through Predictive Maintenance &amp; Digital Twin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5212080" cy="502920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90472"/>
            <a:ext cx="4846320" cy="40677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Industrial Downtime Crisis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Global Cost Impact: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Unplanned industrial outages cause over $50B annually in manufacturing losses; 82% of facilities face unexpected equipment failures.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Legacy Maintenance Failure: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paper-based maintenance and reactive breakdown responses lead to critical component destruction and safety hazards.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Inventory Bottlenecks: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spare parts visibility delays repair turnarounds, inflating Mean Time to Repair (MTTR) beyond 48 hours.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Information Silos: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Technicians and plant executives lack unified real-time dashboards to track machine health index and operational status.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25880"/>
            <a:ext cx="5242255" cy="502920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490472"/>
            <a:ext cx="4876495" cy="3636893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PlantPulse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Solution &amp; Strategic Impact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Telemetry: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Deploys a digital asset management platform tracking operational health index (0-100%) and machine telemetry in real time.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Digital Kanban Workflows: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Automates work order dispatching from pending triage to technician execution with drag-and-drop Kanban tracking.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Predictive Inventory Reordering: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threshold monitoring automatically flags low stock spares to prevent maintenance holds.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UNSDG 9 &amp; 12 Alignment: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Fosters resilient industrial infrastructure, sustainable operational efficiency, and responsible resource consumption.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92993"/>
            <a:ext cx="10362895" cy="47705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rPr dirty="0"/>
              <a:t>System Architecture &amp; Technical Specifications</a:t>
            </a:r>
          </a:p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rPr dirty="0"/>
              <a:t>Decoupled 3-Tier Web Architecture Built for High Performance &amp; Zero-Dependency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01168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23779"/>
            <a:ext cx="10362895" cy="181588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just">
              <a:defRPr sz="1500" b="1">
                <a:solidFill>
                  <a:srgbClr val="38BDF8"/>
                </a:solidFill>
                <a:latin typeface="Arial"/>
              </a:defRPr>
            </a:pPr>
            <a: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  <a:t>Decoupled 3-Tier Production Architecture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Presentation Layer (Client): </a:t>
            </a: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HTML5 dynamic UI built with CSS custom properties (Variables), responsive layout grids, and asynchronous ES6 Vanilla JS.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Application Tier (REST API): </a:t>
            </a: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 PHP 8.x PDO API layer delivering stateless JSON endpoints, session management, and RBAC authentication.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Data Persistence Tier (DBMS): </a:t>
            </a: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 8.0 relational database engine with normalized schema, foreign key integrity, and indexed querying.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5212080" cy="288036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530374"/>
            <a:ext cx="4846320" cy="278537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just">
              <a:defRPr sz="1500" b="1">
                <a:solidFill>
                  <a:srgbClr val="38BDF8"/>
                </a:solidFill>
                <a:latin typeface="Arial"/>
              </a:defRPr>
            </a:pPr>
            <a:r>
              <a:rPr dirty="0"/>
              <a:t>Frontend &amp; UI/UX Stack</a:t>
            </a:r>
          </a:p>
          <a:p>
            <a:pPr algn="just">
              <a:spcBef>
                <a:spcPts val="800"/>
              </a:spcBef>
            </a:pPr>
            <a:r>
              <a:rPr sz="1200" b="1" dirty="0">
                <a:solidFill>
                  <a:srgbClr val="F59E0B"/>
                </a:solidFill>
                <a:latin typeface="Arial"/>
              </a:rPr>
              <a:t>• </a:t>
            </a: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System: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slate theme with CSS root tokens for instant dark/light switching.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Dynamic Interactivity: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 Fetch API integration rendering real-time metrics without page reloads.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Zero Framework Overhead: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Pure vanilla web stack ensuring sub-50ms render times and lightweight footprint.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474720"/>
            <a:ext cx="5242255" cy="288036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3531157"/>
            <a:ext cx="4876495" cy="278537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rPr dirty="0"/>
              <a:t>Backend &amp; Security Layer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Security Controls: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PDO Prepared Statements preventing SQL injection vulnerabilities.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RBAC Architecture: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Strict session-guarded access separating Administrator and Technician portals.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REST Data Serialization: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JSON output formatting across all API endpoints (assets, workorders, inventory).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4448"/>
            <a:ext cx="10362895" cy="47705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rPr dirty="0"/>
              <a:t>User Authentication &amp; Role-Based Access Control</a:t>
            </a:r>
          </a:p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rPr dirty="0"/>
              <a:t>Multi-Role Entry Portal with Instant Dual Theme (Dark / Light Mode) Customization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5212080" cy="2834640"/>
          </a:xfrm>
          <a:prstGeom prst="rect">
            <a:avLst/>
          </a:prstGeom>
          <a:solidFill>
            <a:srgbClr val="1522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1_login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79368"/>
            <a:ext cx="5065776" cy="2576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833" y="3974788"/>
            <a:ext cx="5212080" cy="2560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rPr dirty="0"/>
              <a:t>Dark Mode Secure Authentication Portal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25880"/>
            <a:ext cx="5242255" cy="2834640"/>
          </a:xfrm>
          <a:prstGeom prst="rect">
            <a:avLst/>
          </a:prstGeom>
          <a:solidFill>
            <a:srgbClr val="1522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8_light_mod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379368"/>
            <a:ext cx="5095951" cy="2556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81240" y="3975576"/>
            <a:ext cx="5242255" cy="2560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rPr dirty="0"/>
              <a:t>Light Mode Executive Interface Switch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97680"/>
            <a:ext cx="10728655" cy="210312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462272"/>
            <a:ext cx="10362895" cy="161582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rPr dirty="0"/>
              <a:t>Key Authentication &amp; Accessibility Features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Role-Based Security (RBAC): </a:t>
            </a: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Differentiates System Administrators (full platform access) from Maintenance Engineers (work order execution only).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Session &amp; Credential Protection: </a:t>
            </a: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Session-based state persistence with server-side validation and password security.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Dual Theme Accessibility Engine: </a:t>
            </a: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One-tap dark/light mode toggle utilizing CSS custom variables to accommodate diverse industrial lighting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029F04E-F5B0-59E7-AE72-40F43B32E2FA}"/>
              </a:ext>
            </a:extLst>
          </p:cNvPr>
          <p:cNvSpPr/>
          <p:nvPr/>
        </p:nvSpPr>
        <p:spPr>
          <a:xfrm>
            <a:off x="334298" y="320040"/>
            <a:ext cx="11543070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92993"/>
            <a:ext cx="10362895" cy="47705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rPr dirty="0"/>
              <a:t>Executive Fleet Dashboard &amp; Real-Time Telemetry</a:t>
            </a:r>
          </a:p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rPr dirty="0"/>
              <a:t>Centralized Command Center Monitoring Equipment Health, Active Orders, and MTTR</a:t>
            </a:r>
          </a:p>
        </p:txBody>
      </p:sp>
      <p:sp>
        <p:nvSpPr>
          <p:cNvPr id="4" name="Rectangle 3"/>
          <p:cNvSpPr/>
          <p:nvPr/>
        </p:nvSpPr>
        <p:spPr>
          <a:xfrm>
            <a:off x="334298" y="1325880"/>
            <a:ext cx="7220994" cy="5029200"/>
          </a:xfrm>
          <a:prstGeom prst="rect">
            <a:avLst/>
          </a:prstGeom>
          <a:solidFill>
            <a:srgbClr val="1522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2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23" y="1399032"/>
            <a:ext cx="7072713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8715" y="6130610"/>
            <a:ext cx="5852160" cy="2560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t>PlantPulse Central Executive Dashboard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699335" y="1325880"/>
            <a:ext cx="4154129" cy="502920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43377" y="1474700"/>
            <a:ext cx="3866044" cy="385233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just">
              <a:defRPr sz="1500" b="1">
                <a:solidFill>
                  <a:srgbClr val="38BDF8"/>
                </a:solidFill>
                <a:latin typeface="Arial"/>
              </a:defRPr>
            </a:pPr>
            <a: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  <a:t>Dashboard Capabilities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Overall Fleet Health Index: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an aggregated health percentage gauge (92%) calculating live plant operational readiness.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Key Metric Tiles: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indicators for Total Active Assets (48), Critical Alerts (3), and Pending Work Orders (12).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MTTR Analytics: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Tracks Mean Time to Repair (averaging 2.4 </a:t>
            </a:r>
            <a:r>
              <a:rPr sz="1400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hrs</a:t>
            </a: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to quantify maintenance technician efficiency.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Instant Action Bar: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shortcuts for logging emergency work orders and commissioning new industrial equipment.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366" y="320040"/>
            <a:ext cx="11548968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93927"/>
            <a:ext cx="10362895" cy="47705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rPr dirty="0"/>
              <a:t>Industrial Asset Management &amp; Predictive Health</a:t>
            </a:r>
          </a:p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rPr dirty="0"/>
              <a:t>Comprehensive Equipment Tracking with Automated Health Scoring &amp; Maintenance Logs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0366" y="1325880"/>
            <a:ext cx="7623930" cy="5029200"/>
          </a:xfrm>
          <a:prstGeom prst="rect">
            <a:avLst/>
          </a:prstGeom>
          <a:solidFill>
            <a:srgbClr val="1522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3_assets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1389200"/>
            <a:ext cx="7499063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9355" y="6130058"/>
            <a:ext cx="5852160" cy="2560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rPr dirty="0"/>
              <a:t>Industrial Asset Inventory &amp; Health Scoring Module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3B8726-9F56-B0CD-E52E-68A1D32F1E6B}"/>
              </a:ext>
            </a:extLst>
          </p:cNvPr>
          <p:cNvSpPr/>
          <p:nvPr/>
        </p:nvSpPr>
        <p:spPr>
          <a:xfrm>
            <a:off x="8086049" y="1343571"/>
            <a:ext cx="3793285" cy="5039917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89286" y="1480985"/>
            <a:ext cx="3586809" cy="428322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just">
              <a:defRPr sz="1500" b="1">
                <a:solidFill>
                  <a:srgbClr val="38BDF8"/>
                </a:solidFill>
                <a:latin typeface="Arial"/>
              </a:defRPr>
            </a:pPr>
            <a: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  <a:t>Asset Management Features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Granular Asset Profiles: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Maintains detailed metadata for pumps, turbines, CNC machinery, conveyers, and transformers.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Health Scoring: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Calculates dynamic health scores (0-100%) based on operational hours, age, and maintenance history.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Tri-Color Health Status: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status tags classifying equipment as Operational (Green), Degraded (Yellow), or Failed (Red).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Dynamic Search &amp; Filter: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 REST-powered filtering by department location, status category, or serial number.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18B0F39-8072-6CA0-4418-09D95A6A2819}"/>
              </a:ext>
            </a:extLst>
          </p:cNvPr>
          <p:cNvSpPr/>
          <p:nvPr/>
        </p:nvSpPr>
        <p:spPr>
          <a:xfrm>
            <a:off x="334298" y="320040"/>
            <a:ext cx="11543070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5143"/>
            <a:ext cx="10362895" cy="47705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rPr dirty="0"/>
              <a:t>Maintenance Kanban &amp; Work Order Management</a:t>
            </a:r>
          </a:p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rPr dirty="0"/>
              <a:t>Streamlined Maintenance Dispatch via Interactive Visual Work Status Boards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4298" y="1325880"/>
            <a:ext cx="7661294" cy="5029200"/>
          </a:xfrm>
          <a:prstGeom prst="rect">
            <a:avLst/>
          </a:prstGeom>
          <a:solidFill>
            <a:srgbClr val="1522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4_workorders_kanb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92" y="1408864"/>
            <a:ext cx="7533476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8865" y="6146144"/>
            <a:ext cx="5852160" cy="2560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rPr dirty="0"/>
              <a:t>Interactive 4-Stage Kanban Dispatch Interface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3EF061-107C-B28E-B16D-10EFADD195A6}"/>
              </a:ext>
            </a:extLst>
          </p:cNvPr>
          <p:cNvSpPr/>
          <p:nvPr/>
        </p:nvSpPr>
        <p:spPr>
          <a:xfrm>
            <a:off x="8086049" y="1315137"/>
            <a:ext cx="3793285" cy="5039917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10919" y="1490472"/>
            <a:ext cx="3453088" cy="426783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just">
              <a:defRPr sz="1500" b="1">
                <a:solidFill>
                  <a:srgbClr val="38BDF8"/>
                </a:solidFill>
                <a:latin typeface="Arial"/>
              </a:defRPr>
            </a:pPr>
            <a: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  <a:t>Kanban Workflow Features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4-Stage Visual Board: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Organizes maintenance tasks into Pending, In Progress, Under Review, and Completed columns.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Priority Level Badges: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High-visibility categorization for Emergency, High, Medium, and Routine maintenance jobs.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Technician Assignment: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Maps work orders directly to assigned field engineers with expected completion timelines.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Audit Logging &amp; Tracking: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historical maintenance actions for compliance reporting and reliability auditing.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4298" y="320040"/>
            <a:ext cx="11543070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92203"/>
            <a:ext cx="10362895" cy="47705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rPr dirty="0"/>
              <a:t>Spare Parts Inventory &amp; Procurement Control</a:t>
            </a:r>
          </a:p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rPr dirty="0"/>
              <a:t>Automated Stock Level Monitoring &amp; Intelligent Reorder Threshold Triggers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4297" y="1325880"/>
            <a:ext cx="7561006" cy="5029200"/>
          </a:xfrm>
          <a:prstGeom prst="rect">
            <a:avLst/>
          </a:prstGeom>
          <a:solidFill>
            <a:srgbClr val="1522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5_spareparts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7" y="1399032"/>
            <a:ext cx="7374194" cy="47365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9872" y="6155288"/>
            <a:ext cx="5852160" cy="2560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rPr dirty="0"/>
              <a:t>Spare Parts Inventory Tracking &amp; Low Stock Alerts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086049" y="1315137"/>
            <a:ext cx="3793285" cy="5039917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77489" y="1487941"/>
            <a:ext cx="3610404" cy="405239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just">
              <a:defRPr sz="1500" b="1">
                <a:solidFill>
                  <a:srgbClr val="38BDF8"/>
                </a:solidFill>
                <a:latin typeface="Arial"/>
              </a:defRPr>
            </a:pPr>
            <a: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  <a:t>Inventory Control Features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Live Stock Tracking: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count management for bearings, seals, hydraulic fluid, valves, and circuit boards.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Reorder Alerts: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Triggers low-stock warnings when inventory drops below configured minimum thresholds.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Asset Compatibility Mapping: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Links spare parts directly to specific equipment models to prevent maintenance delays.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Cost &amp; Supplier Insights: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Tracks unit costs and supplier lead times to optimize procurement and minimize capital lockup.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20040"/>
            <a:ext cx="10545775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705" y="501558"/>
            <a:ext cx="10362895" cy="47705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rPr dirty="0"/>
              <a:t>Failure Analytics &amp; Real-Time Alert Center</a:t>
            </a:r>
          </a:p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rPr dirty="0"/>
              <a:t>Multi-Severity Event Triage &amp; Historical Equipment Reliability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5852160" cy="2468880"/>
          </a:xfrm>
          <a:prstGeom prst="rect">
            <a:avLst/>
          </a:prstGeom>
          <a:solidFill>
            <a:srgbClr val="1522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6_analytic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399032"/>
            <a:ext cx="5705856" cy="2176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" y="3613256"/>
            <a:ext cx="5852160" cy="2560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rPr dirty="0"/>
              <a:t>Reliability Trends &amp; Failure Mode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86200"/>
            <a:ext cx="5852160" cy="2468880"/>
          </a:xfrm>
          <a:prstGeom prst="rect">
            <a:avLst/>
          </a:prstGeom>
          <a:solidFill>
            <a:srgbClr val="15223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7_alert_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929856"/>
            <a:ext cx="5705856" cy="2242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182032"/>
            <a:ext cx="5852160" cy="2560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rPr dirty="0"/>
              <a:t>Multi-Severity Alert &amp; Event Triage Console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F51BED-6F88-D3ED-AFD8-CEA080CA8EBE}"/>
              </a:ext>
            </a:extLst>
          </p:cNvPr>
          <p:cNvSpPr/>
          <p:nvPr/>
        </p:nvSpPr>
        <p:spPr>
          <a:xfrm>
            <a:off x="6803924" y="1325880"/>
            <a:ext cx="4473372" cy="5039917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77076" y="1509252"/>
            <a:ext cx="4321866" cy="362150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  <a:t>Analytics &amp; Alert Features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Multi-Severity Alert Triage: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Categorizes incoming events into Critical (Red), Warning (Amber), and Info (Blue).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Sensor Threshold Monitoring: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notifications triggered when temperature, pressure, or vibration exceeds limits.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Failure Mode Analytics: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chart breakdowns of failure root causes to assist predictive engineering decisions.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Resolution Workflows: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technicians to acknowledge, investigate, and clear active alerts with timestamped logs.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90580"/>
            <a:ext cx="10362895" cy="47705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rPr dirty="0"/>
              <a:t>Database Schema, Conclusion &amp; Future Roadmap</a:t>
            </a:r>
          </a:p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rPr dirty="0"/>
              <a:t>Normalized Relational Architecture and Long-Term Industrial 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3383280" cy="502920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90472"/>
            <a:ext cx="3017520" cy="4688463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just">
              <a:defRPr sz="1500" b="1">
                <a:solidFill>
                  <a:srgbClr val="38BDF8"/>
                </a:solidFill>
                <a:latin typeface="Arial"/>
              </a:defRPr>
            </a:pPr>
            <a: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  <a:t>MySQL Relational Schema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users Table: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user credentials, hashed passwords, and RBAC role assignments.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assets Table: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Holds machine specifications, health scores, and department locations.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 err="1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work_orders</a:t>
            </a: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Tracks task statuses, assigned technicians, priorities, and timelines.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 err="1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spare_parts</a:t>
            </a: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inventory counts, reorder levels, and unit costs.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alerts Table: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Logs system warnings, telemetry breaches, and resolution states.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25880"/>
            <a:ext cx="3383280" cy="502920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490472"/>
            <a:ext cx="3017520" cy="426783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just">
              <a:defRPr sz="1500" b="1">
                <a:solidFill>
                  <a:srgbClr val="38BDF8"/>
                </a:solidFill>
                <a:latin typeface="Arial"/>
              </a:defRPr>
            </a:pPr>
            <a: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  <a:t>Core Project Achievements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Production Web Platform: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Delivered a fully responsive, dual-theme industrial web application.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Decoupled REST API: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clean PHP PDO backend services with zero framework dependencies.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Interactive Workflows: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deployed dynamic Kanban and health index calculation modules.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High Performance: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sub-50ms execution times and 100% test pass rate across API endpoints.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325880"/>
            <a:ext cx="3413455" cy="5029200"/>
          </a:xfrm>
          <a:prstGeom prst="rect">
            <a:avLst/>
          </a:prstGeom>
          <a:solidFill>
            <a:srgbClr val="152238"/>
          </a:solidFill>
          <a:ln w="12700">
            <a:solidFill>
              <a:srgbClr val="2A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490472"/>
            <a:ext cx="3047695" cy="448327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just">
              <a:defRPr sz="1500" b="1">
                <a:solidFill>
                  <a:srgbClr val="38BDF8"/>
                </a:solidFill>
                <a:latin typeface="Arial"/>
              </a:defRPr>
            </a:pPr>
            <a:r>
              <a:rPr sz="1500" dirty="0">
                <a:latin typeface="Arial" panose="020B0604020202020204" pitchFamily="34" charset="0"/>
                <a:cs typeface="Arial" panose="020B0604020202020204" pitchFamily="34" charset="0"/>
              </a:rPr>
              <a:t>Future Industrial Roadmap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IoT Telemetry Integration: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MQTT broker connectivity for live industrial sensor telemetry ingestion.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Predictive ML Models: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for Remaining Useful Life (RUL) estimation.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Mobile PWA Support: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Offline-first Progressive Web App capabilities for field maintenance technicians.</a:t>
            </a:r>
          </a:p>
          <a:p>
            <a:pPr algn="just">
              <a:spcBef>
                <a:spcPts val="800"/>
              </a:spcBef>
            </a:pPr>
            <a:r>
              <a:rPr sz="1400" b="1" dirty="0">
                <a:solidFill>
                  <a:srgbClr val="F59E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SCADA Interoperability: </a:t>
            </a:r>
            <a:endParaRPr lang="en-US" sz="1400" b="1" dirty="0">
              <a:solidFill>
                <a:srgbClr val="F59E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</a:pPr>
            <a:r>
              <a:rPr sz="140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protocol connectors (Modbus/OPC UA) for plant-wide SCADA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1302</Words>
  <Application>Microsoft Office PowerPoint</Application>
  <PresentationFormat>Widescreen</PresentationFormat>
  <Paragraphs>151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Tharun Pranav T</dc:creator>
  <cp:keywords/>
  <dc:description>generated using python-pptx</dc:description>
  <cp:lastModifiedBy>Tharun Pranav T</cp:lastModifiedBy>
  <cp:revision>3</cp:revision>
  <dcterms:created xsi:type="dcterms:W3CDTF">2013-01-27T09:14:16Z</dcterms:created>
  <dcterms:modified xsi:type="dcterms:W3CDTF">2026-10-07T07:10:41Z</dcterms:modified>
  <cp:category/>
</cp:coreProperties>
</file>